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Smart Tution Fee Portal</a:t>
            </a:r>
          </a:p>
        </p:txBody>
      </p:sp>
      <p:sp>
        <p:nvSpPr>
          <p:cNvPr id="3" name="Subtitle 2"/>
          <p:cNvSpPr>
            <a:spLocks noGrp="1"/>
          </p:cNvSpPr>
          <p:nvPr>
            <p:ph type="subTitle" idx="1"/>
          </p:nvPr>
        </p:nvSpPr>
        <p:spPr/>
        <p:txBody>
          <a:bodyPr/>
          <a:lstStyle/>
          <a:p>
            <a:r>
              <a:t>Parul Institute of Computer Applications</a:t>
            </a:r>
          </a:p>
          <a:p>
            <a:r>
              <a:t>Semester V Project</a:t>
            </a:r>
          </a:p>
          <a:p>
            <a:r>
              <a:t>2026-27</a:t>
            </a:r>
          </a:p>
          <a:p/>
          <a:p>
            <a:r>
              <a:t>Team members:</a:t>
            </a:r>
          </a:p>
          <a:p>
            <a:r>
              <a:t>[Your Enrollment No &amp; Name]</a:t>
            </a:r>
          </a:p>
          <a:p>
            <a:r>
              <a:t>Company Details:</a:t>
            </a:r>
          </a:p>
          <a:p>
            <a:r>
              <a:t>[Your Company Details]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INDEX</a:t>
            </a:r>
          </a:p>
        </p:txBody>
      </p:sp>
      <p:sp>
        <p:nvSpPr>
          <p:cNvPr id="3" name="Content Placeholder 2"/>
          <p:cNvSpPr>
            <a:spLocks noGrp="1"/>
          </p:cNvSpPr>
          <p:nvPr>
            <p:ph idx="1"/>
          </p:nvPr>
        </p:nvSpPr>
        <p:spPr/>
        <p:txBody>
          <a:bodyPr/>
          <a:lstStyle/>
          <a:p>
            <a:r>
              <a:rPr sz="2000"/>
              <a:t>1. Abstract</a:t>
            </a:r>
          </a:p>
          <a:p>
            <a:r>
              <a:rPr sz="2000"/>
              <a:t>2. Comparison of New System with Existing System</a:t>
            </a:r>
          </a:p>
          <a:p>
            <a:r>
              <a:rPr sz="2000"/>
              <a:t>3. Technology and HW, SW Requirement Specification</a:t>
            </a:r>
          </a:p>
          <a:p>
            <a:r>
              <a:rPr sz="2000"/>
              <a:t>4. Modules and its short description</a:t>
            </a:r>
          </a:p>
          <a:p>
            <a:r>
              <a:rPr sz="2000"/>
              <a:t>5. Users and their role description</a:t>
            </a:r>
          </a:p>
          <a:p>
            <a:r>
              <a:rPr sz="2000"/>
              <a:t>6. Limitations</a:t>
            </a:r>
          </a:p>
          <a:p>
            <a:r>
              <a:rPr sz="2000"/>
              <a:t>7. Future Enhancement</a:t>
            </a:r>
          </a:p>
          <a:p>
            <a:r>
              <a:rPr sz="2000"/>
              <a:t>8. References &amp; Bibliography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rPr sz="2000"/>
              <a:t>The Smart Tution Fee Portal is a web-based platform designed to simplify and automate the collection, management, and tracking of tuition fees for educational institutions or private coaching centers. It provides a centralized database for administrators to easily monitor payments, pending dues, and generate financial reports. For students and parents, the portal offers a convenient and secure way to pay fees online, view payment history, and receive timely notifications for upcoming dues. The system reduces manual paperwork, minimizes errors, and enhances transparency in financial transactions.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of New System with Existing System</a:t>
            </a:r>
          </a:p>
        </p:txBody>
      </p:sp>
      <p:sp>
        <p:nvSpPr>
          <p:cNvPr id="3" name="Content Placeholder 2"/>
          <p:cNvSpPr>
            <a:spLocks noGrp="1"/>
          </p:cNvSpPr>
          <p:nvPr>
            <p:ph idx="1"/>
          </p:nvPr>
        </p:nvSpPr>
        <p:spPr/>
        <p:txBody>
          <a:bodyPr/>
          <a:lstStyle/>
          <a:p>
            <a:r>
              <a:rPr sz="2000"/>
              <a:t>Existing System:</a:t>
            </a:r>
          </a:p>
          <a:p>
            <a:r>
              <a:rPr sz="2000"/>
              <a:t>- Manual record keeping in registers or basic excel sheets.</a:t>
            </a:r>
          </a:p>
          <a:p>
            <a:r>
              <a:rPr sz="2000"/>
              <a:t>- Prone to human errors during calculation.</a:t>
            </a:r>
          </a:p>
          <a:p>
            <a:r>
              <a:rPr sz="2000"/>
              <a:t>- Time-consuming receipt generation.</a:t>
            </a:r>
          </a:p>
          <a:p>
            <a:r>
              <a:rPr sz="2000"/>
              <a:t>- Difficult to track defaulters and pending dues.</a:t>
            </a:r>
          </a:p>
          <a:p/>
          <a:p>
            <a:r>
              <a:rPr sz="2000"/>
              <a:t>New System:</a:t>
            </a:r>
          </a:p>
          <a:p>
            <a:r>
              <a:rPr sz="2000"/>
              <a:t>- Automated digital records and secure cloud database.</a:t>
            </a:r>
          </a:p>
          <a:p>
            <a:r>
              <a:rPr sz="2000"/>
              <a:t>- Error-free automated calculations.</a:t>
            </a:r>
          </a:p>
          <a:p>
            <a:r>
              <a:rPr sz="2000"/>
              <a:t>- Instant digital receipts and online secure payments.</a:t>
            </a:r>
          </a:p>
          <a:p>
            <a:r>
              <a:rPr sz="2000"/>
              <a:t>- Automated reminders and instant defaulter list generation.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and HW, SW Requirement Specification</a:t>
            </a:r>
          </a:p>
        </p:txBody>
      </p:sp>
      <p:sp>
        <p:nvSpPr>
          <p:cNvPr id="3" name="Content Placeholder 2"/>
          <p:cNvSpPr>
            <a:spLocks noGrp="1"/>
          </p:cNvSpPr>
          <p:nvPr>
            <p:ph idx="1"/>
          </p:nvPr>
        </p:nvSpPr>
        <p:spPr/>
        <p:txBody>
          <a:bodyPr/>
          <a:lstStyle/>
          <a:p>
            <a:r>
              <a:rPr sz="2000"/>
              <a:t>Software Requirements:</a:t>
            </a:r>
          </a:p>
          <a:p>
            <a:r>
              <a:rPr sz="2000"/>
              <a:t>- Frontend: HTML5, CSS3, JavaScript (React/Bootstrap)</a:t>
            </a:r>
          </a:p>
          <a:p>
            <a:r>
              <a:rPr sz="2000"/>
              <a:t>- Backend: Python (Django/Flask) or Node.js</a:t>
            </a:r>
          </a:p>
          <a:p>
            <a:r>
              <a:rPr sz="2000"/>
              <a:t>- Database: MySQL or PostgreSQL</a:t>
            </a:r>
          </a:p>
          <a:p>
            <a:r>
              <a:rPr sz="2000"/>
              <a:t>- Server: Apache / Nginx / Node</a:t>
            </a:r>
          </a:p>
          <a:p/>
          <a:p>
            <a:r>
              <a:rPr sz="2000"/>
              <a:t>Hardware Requirements:</a:t>
            </a:r>
          </a:p>
          <a:p>
            <a:r>
              <a:rPr sz="2000"/>
              <a:t>- Processor: Intel Core i3 or above</a:t>
            </a:r>
          </a:p>
          <a:p>
            <a:r>
              <a:rPr sz="2000"/>
              <a:t>- RAM: 4 GB or higher</a:t>
            </a:r>
          </a:p>
          <a:p>
            <a:r>
              <a:rPr sz="2000"/>
              <a:t>- Storage: 50 GB free space</a:t>
            </a:r>
          </a:p>
          <a:p>
            <a:r>
              <a:rPr sz="2000"/>
              <a:t>- Internet Connection for online features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Modules and its short description</a:t>
            </a:r>
          </a:p>
        </p:txBody>
      </p:sp>
      <p:sp>
        <p:nvSpPr>
          <p:cNvPr id="3" name="Content Placeholder 2"/>
          <p:cNvSpPr>
            <a:spLocks noGrp="1"/>
          </p:cNvSpPr>
          <p:nvPr>
            <p:ph idx="1"/>
          </p:nvPr>
        </p:nvSpPr>
        <p:spPr/>
        <p:txBody>
          <a:bodyPr/>
          <a:lstStyle/>
          <a:p>
            <a:r>
              <a:rPr sz="2000"/>
              <a:t>- Admin Module: Manage students, teachers, courses, fee structures, and view financial reports.</a:t>
            </a:r>
          </a:p>
          <a:p>
            <a:r>
              <a:rPr sz="2000"/>
              <a:t>- Student/Parent Module: View fee details, pay online, download receipts, check payment history.</a:t>
            </a:r>
          </a:p>
          <a:p>
            <a:r>
              <a:rPr sz="2000"/>
              <a:t>- Payment Gateway Module: Secure processing of online transactions.</a:t>
            </a:r>
          </a:p>
          <a:p>
            <a:r>
              <a:rPr sz="2000"/>
              <a:t>- Notification Module: Send automated SMS/Email reminders for pending fees.</a:t>
            </a:r>
          </a:p>
          <a:p>
            <a:r>
              <a:rPr sz="2000"/>
              <a:t>- Reporting Module: Generate daily/monthly revenue and defaulters reports.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and its short description</a:t>
            </a:r>
          </a:p>
        </p:txBody>
      </p:sp>
      <p:sp>
        <p:nvSpPr>
          <p:cNvPr id="3" name="Content Placeholder 2"/>
          <p:cNvSpPr>
            <a:spLocks noGrp="1"/>
          </p:cNvSpPr>
          <p:nvPr>
            <p:ph idx="1"/>
          </p:nvPr>
        </p:nvSpPr>
        <p:spPr/>
        <p:txBody>
          <a:bodyPr/>
          <a:lstStyle/>
          <a:p>
            <a:r>
              <a:rPr sz="2000"/>
              <a:t>- Online Fee Payment: 24x7 payment facility for students.</a:t>
            </a:r>
          </a:p>
          <a:p>
            <a:r>
              <a:rPr sz="2000"/>
              <a:t>- Automated Reminders: System alerts for upcoming or overdue fees.</a:t>
            </a:r>
          </a:p>
          <a:p>
            <a:r>
              <a:rPr sz="2000"/>
              <a:t>- Dashboard Analytics: Graphical representation of revenue and dues for admin.</a:t>
            </a:r>
          </a:p>
          <a:p>
            <a:r>
              <a:rPr sz="2000"/>
              <a:t>- Receipt Generation: One-click digital fee receipts.</a:t>
            </a:r>
          </a:p>
          <a:p>
            <a:r>
              <a:rPr sz="2000"/>
              <a:t>- Secure Authentication: Role-based access control and encrypted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Users and their role description</a:t>
            </a:r>
          </a:p>
        </p:txBody>
      </p:sp>
      <p:sp>
        <p:nvSpPr>
          <p:cNvPr id="3" name="Content Placeholder 2"/>
          <p:cNvSpPr>
            <a:spLocks noGrp="1"/>
          </p:cNvSpPr>
          <p:nvPr>
            <p:ph idx="1"/>
          </p:nvPr>
        </p:nvSpPr>
        <p:spPr/>
        <p:txBody>
          <a:bodyPr/>
          <a:lstStyle/>
          <a:p>
            <a:r>
              <a:rPr sz="2000"/>
              <a:t>- Admin: Has full control over the system. Can add/remove students, configure fees, and view all reports.</a:t>
            </a:r>
          </a:p>
          <a:p>
            <a:r>
              <a:rPr sz="2000"/>
              <a:t>- Teacher (Optional): View assigned students, track their fee status for class participation.</a:t>
            </a:r>
          </a:p>
          <a:p>
            <a:r>
              <a:rPr sz="2000"/>
              <a:t>- Student/Parent: Can log in to view their specific fee dues, make payments, and download receipts.</a:t>
            </a:r>
          </a:p>
          <a:p>
            <a:r>
              <a:rPr sz="2000"/>
              <a:t>- Accountant: Manages day-to-day transactions and manual payments if any.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rPr sz="2000"/>
              <a:t>- Requires continuous internet connectivity for online payments and real-time updates.</a:t>
            </a:r>
          </a:p>
          <a:p>
            <a:r>
              <a:rPr sz="2000"/>
              <a:t>- Initial setup and training required for staff moving from manual systems.</a:t>
            </a:r>
          </a:p>
          <a:p>
            <a:r>
              <a:rPr sz="2000"/>
              <a:t>- Dependency on third-party payment gateways for transaction success.</a:t>
            </a:r>
          </a:p>
          <a:p>
            <a:r>
              <a:rPr sz="2000"/>
              <a:t>- May require hardware upgrades for older institutional computers.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a:t>
            </a:r>
          </a:p>
        </p:txBody>
      </p:sp>
      <p:sp>
        <p:nvSpPr>
          <p:cNvPr id="3" name="Content Placeholder 2"/>
          <p:cNvSpPr>
            <a:spLocks noGrp="1"/>
          </p:cNvSpPr>
          <p:nvPr>
            <p:ph idx="1"/>
          </p:nvPr>
        </p:nvSpPr>
        <p:spPr/>
        <p:txBody>
          <a:bodyPr/>
          <a:lstStyle/>
          <a:p>
            <a:r>
              <a:rPr sz="2000"/>
              <a:t>- Integration with Mobile App (Android/iOS) for easier access on smartphones.</a:t>
            </a:r>
          </a:p>
          <a:p>
            <a:r>
              <a:rPr sz="2000"/>
              <a:t>- AI-based predictive analysis for fee collection trends.</a:t>
            </a:r>
          </a:p>
          <a:p>
            <a:r>
              <a:rPr sz="2000"/>
              <a:t>- Integration with biometric attendance systems to link attendance with fee dues.</a:t>
            </a:r>
          </a:p>
          <a:p>
            <a:r>
              <a:rPr sz="2000"/>
              <a:t>- Support for multiple regional languages for wider accessibility.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&amp; Bibliography</a:t>
            </a:r>
          </a:p>
        </p:txBody>
      </p:sp>
      <p:sp>
        <p:nvSpPr>
          <p:cNvPr id="3" name="Content Placeholder 2"/>
          <p:cNvSpPr>
            <a:spLocks noGrp="1"/>
          </p:cNvSpPr>
          <p:nvPr>
            <p:ph idx="1"/>
          </p:nvPr>
        </p:nvSpPr>
        <p:spPr/>
        <p:txBody>
          <a:bodyPr/>
          <a:lstStyle/>
          <a:p>
            <a:r>
              <a:rPr sz="2000"/>
              <a:t>- Web Development tutorials (w3schools.com, MDN Web Docs)</a:t>
            </a:r>
          </a:p>
          <a:p>
            <a:r>
              <a:rPr sz="2000"/>
              <a:t>- Payment Gateway API Documentation (e.g., Razorpay, Stripe)</a:t>
            </a:r>
          </a:p>
          <a:p>
            <a:r>
              <a:rPr sz="2000"/>
              <a:t>- Database Management Systems by Ramez Elmasri &amp; Shamkant B. Navathe.</a:t>
            </a:r>
          </a:p>
          <a:p>
            <a:r>
              <a:rPr sz="2000"/>
              <a:t>- "Software Engineering: A Practitioner's Approach" by Roger S. Pressman.</a:t>
            </a:r>
          </a:p>
          <a:p>
            <a:r>
              <a:rPr sz="2000"/>
              <a:t>- IEEE papers on Online Payment Systems and Educational ERPs.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 !!!</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